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3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0B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0B5BE"/>
                </a:solidFill>
                <a:latin typeface="Aptos"/>
              </a:defRPr>
            </a:pPr>
            <a:r>
              <a:t>ASSESSMENT 10  |  SOFTWARE ENGINEERING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241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AI-Assisted Complaint</a:t>
            </a:r>
            <a:br/>
            <a:r>
              <a:t>Management for HMS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37560"/>
            <a:ext cx="9784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D6E1EF"/>
                </a:solidFill>
                <a:latin typeface="Aptos"/>
              </a:defRPr>
            </a:pPr>
            <a:r>
              <a:t>A practical machine-learning feature for complaint categorization and priority suggestions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846320"/>
            <a:ext cx="4846320" cy="777240"/>
          </a:xfrm>
          <a:prstGeom prst="roundRect">
            <a:avLst/>
          </a:prstGeom>
          <a:solidFill>
            <a:srgbClr val="1F385B"/>
          </a:solidFill>
          <a:ln>
            <a:solidFill>
              <a:srgbClr val="375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50749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ptos"/>
              </a:defRPr>
            </a:pPr>
            <a:r>
              <a:t>BCSE301P  •  Hostel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1722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BECDE0"/>
                </a:solidFill>
                <a:latin typeface="Aptos"/>
              </a:defRPr>
            </a:pPr>
            <a:r>
              <a:t>Priyasha Das  •  Shubham Mishra  •  Anushka Rani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22340"/>
                </a:solidFill>
                <a:latin typeface="Aptos"/>
              </a:defRPr>
            </a:pPr>
            <a:r>
              <a:t>Why add AI to the existing HMS?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960120"/>
            <a:ext cx="777240" cy="50292"/>
          </a:xfrm>
          <a:prstGeom prst="rect">
            <a:avLst/>
          </a:prstGeom>
          <a:solidFill>
            <a:srgbClr val="30B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D6C7E"/>
                </a:solidFill>
                <a:latin typeface="Aptos"/>
              </a:defRPr>
            </a:pPr>
            <a:r>
              <a:t>Grounded in the project scope from Assignment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D6C7E"/>
                </a:solidFill>
                <a:latin typeface="Aptos"/>
              </a:defRPr>
            </a:pPr>
            <a:r>
              <a:t>BCSE301P  •  ASSESSMENT 10                                      HMS  •  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3474720" cy="1828800"/>
          </a:xfrm>
          <a:prstGeom prst="roundRect">
            <a:avLst/>
          </a:prstGeom>
          <a:solidFill>
            <a:srgbClr val="EFF4FA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792224"/>
            <a:ext cx="31455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B64BE"/>
                </a:solidFill>
                <a:latin typeface="Aptos"/>
              </a:defRPr>
            </a:pPr>
            <a:r>
              <a:t>Current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212848"/>
            <a:ext cx="3145536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32F3E"/>
                </a:solidFill>
                <a:latin typeface="Aptos"/>
              </a:defRPr>
            </a:pPr>
            <a:r>
              <a:t>Students submit complaints; wardens track status as Pending, In Progress or Resolved.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45920"/>
            <a:ext cx="3474720" cy="1828800"/>
          </a:xfrm>
          <a:prstGeom prst="roundRect">
            <a:avLst/>
          </a:prstGeom>
          <a:solidFill>
            <a:srgbClr val="EFF4FA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7992" y="1792224"/>
            <a:ext cx="31455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08F31"/>
                </a:solidFill>
                <a:latin typeface="Aptos"/>
              </a:defRPr>
            </a:pPr>
            <a:r>
              <a:t>Operational friction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7992" y="2212848"/>
            <a:ext cx="3145536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32F3E"/>
                </a:solidFill>
                <a:latin typeface="Aptos"/>
              </a:defRPr>
            </a:pPr>
            <a:r>
              <a:t>Complaints can be vague, inconsistent, or difficult to triage quickly.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474720" cy="1828800"/>
          </a:xfrm>
          <a:prstGeom prst="roundRect">
            <a:avLst/>
          </a:prstGeom>
          <a:solidFill>
            <a:srgbClr val="EFF4FA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2" y="1792224"/>
            <a:ext cx="31455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79167"/>
                </a:solidFill>
                <a:latin typeface="Aptos"/>
              </a:defRPr>
            </a:pPr>
            <a:r>
              <a:t>Proposed 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1312" y="2212848"/>
            <a:ext cx="3145536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32F3E"/>
                </a:solidFill>
                <a:latin typeface="Aptos"/>
              </a:defRPr>
            </a:pPr>
            <a:r>
              <a:t>Suggest a complaint category and priority at submission; the warden remains in control.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6908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F3E"/>
                </a:solidFill>
                <a:latin typeface="Aptos"/>
              </a:defRPr>
            </a:pPr>
            <a:r>
              <a:t>•  Fits the existing Complaint Management module—no need to redesign the whole system.</a:t>
            </a:r>
          </a:p>
          <a:p>
            <a:pPr>
              <a:spcAft>
                <a:spcPts val="1000"/>
              </a:spcAft>
              <a:defRPr sz="1700">
                <a:solidFill>
                  <a:srgbClr val="232F3E"/>
                </a:solidFill>
                <a:latin typeface="Aptos"/>
              </a:defRPr>
            </a:pPr>
            <a:r>
              <a:t>•  Complements role-based access and complaint status tracking already specified.</a:t>
            </a:r>
          </a:p>
          <a:p>
            <a:pPr>
              <a:spcAft>
                <a:spcPts val="1000"/>
              </a:spcAft>
              <a:defRPr sz="1700">
                <a:solidFill>
                  <a:srgbClr val="232F3E"/>
                </a:solidFill>
                <a:latin typeface="Aptos"/>
              </a:defRPr>
            </a:pPr>
            <a:r>
              <a:t>•  Does not change the existing Flask + MySQL architecture.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22340"/>
                </a:solidFill>
                <a:latin typeface="Aptos"/>
              </a:defRPr>
            </a:pPr>
            <a:r>
              <a:t>AI feature and expected behavior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960120"/>
            <a:ext cx="777240" cy="50292"/>
          </a:xfrm>
          <a:prstGeom prst="rect">
            <a:avLst/>
          </a:prstGeom>
          <a:solidFill>
            <a:srgbClr val="30B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D6C7E"/>
                </a:solidFill>
                <a:latin typeface="Aptos"/>
              </a:defRPr>
            </a:pPr>
            <a:r>
              <a:t>The feature assists triage; it does not make final administrative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D6C7E"/>
                </a:solidFill>
                <a:latin typeface="Aptos"/>
              </a:defRPr>
            </a:pPr>
            <a:r>
              <a:t>BCSE301P  •  ASSESSMENT 10                                      HMS  •  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429000" cy="1645920"/>
          </a:xfrm>
          <a:prstGeom prst="roundRect">
            <a:avLst/>
          </a:prstGeom>
          <a:solidFill>
            <a:srgbClr val="EFF4FA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746504"/>
            <a:ext cx="30998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B64BE"/>
                </a:solidFill>
                <a:latin typeface="Aptos"/>
              </a:defRPr>
            </a:pPr>
            <a:r>
              <a:t>1  Classify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167128"/>
            <a:ext cx="3099816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32F3E"/>
                </a:solidFill>
                <a:latin typeface="Aptos"/>
              </a:defRPr>
            </a:pPr>
            <a:r>
              <a:t>Predict one category: Plumbing, Electrical, Mess/Food, Cleanliness, Noise/Discipline, Maintenance or Safety.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00200"/>
            <a:ext cx="3429000" cy="1645920"/>
          </a:xfrm>
          <a:prstGeom prst="roundRect">
            <a:avLst/>
          </a:prstGeom>
          <a:solidFill>
            <a:srgbClr val="EFF4FA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746504"/>
            <a:ext cx="30998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08F31"/>
                </a:solidFill>
                <a:latin typeface="Aptos"/>
              </a:defRPr>
            </a:pPr>
            <a:r>
              <a:t>2  Suggest priority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2167128"/>
            <a:ext cx="3099816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32F3E"/>
                </a:solidFill>
                <a:latin typeface="Aptos"/>
              </a:defRPr>
            </a:pPr>
            <a:r>
              <a:t>Normal, Medium or High based on the predicted category and explicit urgency terms.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600200"/>
            <a:ext cx="3429000" cy="1645920"/>
          </a:xfrm>
          <a:prstGeom prst="roundRect">
            <a:avLst/>
          </a:prstGeom>
          <a:solidFill>
            <a:srgbClr val="EFF4FA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57031" y="1746504"/>
            <a:ext cx="30998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79167"/>
                </a:solidFill>
                <a:latin typeface="Aptos"/>
              </a:defRPr>
            </a:pPr>
            <a:r>
              <a:t>3  Explain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7031" y="2167128"/>
            <a:ext cx="3099816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32F3E"/>
                </a:solidFill>
                <a:latin typeface="Aptos"/>
              </a:defRPr>
            </a:pPr>
            <a:r>
              <a:t>Return confidence and a short reason; student/warden can correct the suggestion.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7947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5D6C7E"/>
                </a:solidFill>
                <a:latin typeface="Aptos"/>
              </a:defRPr>
            </a:pPr>
            <a:r>
              <a:t>Example input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160520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22340"/>
                </a:solidFill>
                <a:latin typeface="Aptos"/>
              </a:defRPr>
            </a:pPr>
            <a:r>
              <a:t>“Power socket is sparking and I feel unsafe.”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794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5D6C7E"/>
                </a:solidFill>
                <a:latin typeface="Aptos"/>
              </a:defRPr>
            </a:pPr>
            <a:r>
              <a:t>Expected 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4160520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279167"/>
                </a:solidFill>
                <a:latin typeface="Aptos"/>
              </a:defRPr>
            </a:pPr>
            <a:r>
              <a:t>Electrical  •  High priority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1663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D6C7E"/>
                </a:solidFill>
                <a:latin typeface="Aptos"/>
              </a:defRPr>
            </a:pPr>
            <a:r>
              <a:t>The exact model output can vary; the urgency rule forces High when a configured urgent term is present.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22340"/>
                </a:solidFill>
                <a:latin typeface="Aptos"/>
              </a:defRPr>
            </a:pPr>
            <a:r>
              <a:t>How the AI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960120"/>
            <a:ext cx="777240" cy="50292"/>
          </a:xfrm>
          <a:prstGeom prst="rect">
            <a:avLst/>
          </a:prstGeom>
          <a:solidFill>
            <a:srgbClr val="30B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D6C7E"/>
                </a:solidFill>
                <a:latin typeface="Aptos"/>
              </a:defRPr>
            </a:pPr>
            <a:r>
              <a:t>A small supervised text-classification prototype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D6C7E"/>
                </a:solidFill>
                <a:latin typeface="Aptos"/>
              </a:defRPr>
            </a:pPr>
            <a:r>
              <a:t>BCSE301P  •  ASSESSMENT 10                                      HMS  •  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65960"/>
            <a:ext cx="2057400" cy="1874519"/>
          </a:xfrm>
          <a:prstGeom prst="roundRect">
            <a:avLst/>
          </a:prstGeom>
          <a:solidFill>
            <a:srgbClr val="EFF4FA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2112264"/>
            <a:ext cx="17282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B64BE"/>
                </a:solidFill>
                <a:latin typeface="Aptos"/>
              </a:defRPr>
            </a:pPr>
            <a:r>
              <a:t>Complaint 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532888"/>
            <a:ext cx="1728216" cy="1161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32F3E"/>
                </a:solidFill>
                <a:latin typeface="Aptos"/>
              </a:defRPr>
            </a:pPr>
            <a:r>
              <a:t>Raw description entered by student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87752" y="260604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5D6C7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39" y="1965960"/>
            <a:ext cx="2057400" cy="1874519"/>
          </a:xfrm>
          <a:prstGeom prst="roundRect">
            <a:avLst/>
          </a:prstGeom>
          <a:solidFill>
            <a:srgbClr val="EFF4FA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99232" y="2112264"/>
            <a:ext cx="17282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0B5BE"/>
                </a:solidFill>
                <a:latin typeface="Aptos"/>
              </a:defRPr>
            </a:pPr>
            <a:r>
              <a:t>TF-IDF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9232" y="2532888"/>
            <a:ext cx="1728216" cy="1161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32F3E"/>
                </a:solidFill>
                <a:latin typeface="Aptos"/>
              </a:defRPr>
            </a:pPr>
            <a:r>
              <a:t>Convert words and word pairs into numeric 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19471" y="260604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5D6C7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6359" y="1965960"/>
            <a:ext cx="2057400" cy="1874519"/>
          </a:xfrm>
          <a:prstGeom prst="roundRect">
            <a:avLst/>
          </a:prstGeom>
          <a:solidFill>
            <a:srgbClr val="EFF4FA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30951" y="2112264"/>
            <a:ext cx="17282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B64BE"/>
                </a:solidFill>
                <a:latin typeface="Aptos"/>
              </a:defRPr>
            </a:pPr>
            <a:r>
              <a:t>Logistic Regression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0951" y="2532888"/>
            <a:ext cx="1728216" cy="1161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32F3E"/>
                </a:solidFill>
                <a:latin typeface="Aptos"/>
              </a:defRPr>
            </a:pPr>
            <a:r>
              <a:t>Learn patterns from labelled example complaints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51192" y="260604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5D6C7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79" y="1965960"/>
            <a:ext cx="2057400" cy="1874519"/>
          </a:xfrm>
          <a:prstGeom prst="roundRect">
            <a:avLst/>
          </a:prstGeom>
          <a:solidFill>
            <a:srgbClr val="EFF4FA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62671" y="2112264"/>
            <a:ext cx="17282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08F31"/>
                </a:solidFill>
                <a:latin typeface="Aptos"/>
              </a:defRPr>
            </a:pPr>
            <a:r>
              <a:t>Triage rules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62671" y="2532888"/>
            <a:ext cx="1728216" cy="1161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32F3E"/>
                </a:solidFill>
                <a:latin typeface="Aptos"/>
              </a:defRPr>
            </a:pPr>
            <a:r>
              <a:t>Check urgency terms and suggest priority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82911" y="260604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5D6C7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29800" y="1965960"/>
            <a:ext cx="2057400" cy="1874519"/>
          </a:xfrm>
          <a:prstGeom prst="roundRect">
            <a:avLst/>
          </a:prstGeom>
          <a:solidFill>
            <a:srgbClr val="EFF4FA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94392" y="2112264"/>
            <a:ext cx="17282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79167"/>
                </a:solidFill>
                <a:latin typeface="Aptos"/>
              </a:defRPr>
            </a:pPr>
            <a:r>
              <a:t>Human 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94392" y="2532888"/>
            <a:ext cx="1728216" cy="1161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32F3E"/>
                </a:solidFill>
                <a:latin typeface="Aptos"/>
              </a:defRPr>
            </a:pPr>
            <a:r>
              <a:t>Show editable suggestion before saving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663440"/>
            <a:ext cx="10698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32F3E"/>
                </a:solidFill>
                <a:latin typeface="Aptos"/>
              </a:defRPr>
            </a:pPr>
            <a:r>
              <a:t>•  Training examples in this demo are synthetic and intentionally small.</a:t>
            </a:r>
          </a:p>
          <a:p>
            <a:pPr>
              <a:spcAft>
                <a:spcPts val="1000"/>
              </a:spcAft>
              <a:defRPr sz="1500">
                <a:solidFill>
                  <a:srgbClr val="232F3E"/>
                </a:solidFill>
                <a:latin typeface="Aptos"/>
              </a:defRPr>
            </a:pPr>
            <a:r>
              <a:t>•  The classifier is trained locally at application startup; no external AI API is required.</a:t>
            </a:r>
          </a:p>
          <a:p>
            <a:pPr>
              <a:spcAft>
                <a:spcPts val="1000"/>
              </a:spcAft>
              <a:defRPr sz="1500">
                <a:solidFill>
                  <a:srgbClr val="232F3E"/>
                </a:solidFill>
                <a:latin typeface="Aptos"/>
              </a:defRPr>
            </a:pPr>
            <a:r>
              <a:t>•  Confidence is a model score, not a guarantee of correctness.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22340"/>
                </a:solidFill>
                <a:latin typeface="Aptos"/>
              </a:defRPr>
            </a:pPr>
            <a:r>
              <a:t>Integration with the existing project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960120"/>
            <a:ext cx="777240" cy="50292"/>
          </a:xfrm>
          <a:prstGeom prst="rect">
            <a:avLst/>
          </a:prstGeom>
          <a:solidFill>
            <a:srgbClr val="30B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D6C7E"/>
                </a:solidFill>
                <a:latin typeface="Aptos"/>
              </a:defRPr>
            </a:pPr>
            <a:r>
              <a:t>Designed around the current Flask + MySQL HMS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D6C7E"/>
                </a:solidFill>
                <a:latin typeface="Aptos"/>
              </a:defRPr>
            </a:pPr>
            <a:r>
              <a:t>BCSE301P  •  ASSESSMENT 10                                      HMS  •  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74519"/>
            <a:ext cx="2011680" cy="1143000"/>
          </a:xfrm>
          <a:prstGeom prst="roundRect">
            <a:avLst/>
          </a:prstGeom>
          <a:solidFill>
            <a:srgbClr val="EFF4FA"/>
          </a:solidFill>
          <a:ln>
            <a:solidFill>
              <a:srgbClr val="D4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057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B64BE"/>
                </a:solidFill>
                <a:latin typeface="Aptos"/>
              </a:defRPr>
            </a:pPr>
            <a:r>
              <a:t>Student 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32F3E"/>
                </a:solidFill>
                <a:latin typeface="Aptos"/>
              </a:defRPr>
            </a:pPr>
            <a:r>
              <a:t>Enter complaint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4328" y="2258568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5D6C7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79" y="1874519"/>
            <a:ext cx="2011680" cy="1143000"/>
          </a:xfrm>
          <a:prstGeom prst="roundRect">
            <a:avLst/>
          </a:prstGeom>
          <a:solidFill>
            <a:srgbClr val="EFF4FA"/>
          </a:solidFill>
          <a:ln>
            <a:solidFill>
              <a:srgbClr val="D4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0" y="2057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B64BE"/>
                </a:solidFill>
                <a:latin typeface="Aptos"/>
              </a:defRPr>
            </a:pPr>
            <a:r>
              <a:t>Flask endpoint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32F3E"/>
                </a:solidFill>
                <a:latin typeface="Aptos"/>
              </a:defRPr>
            </a:pPr>
            <a:r>
              <a:t>Call classifier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56048" y="2258568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5D6C7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57800" y="1874519"/>
            <a:ext cx="2011680" cy="1143000"/>
          </a:xfrm>
          <a:prstGeom prst="roundRect">
            <a:avLst/>
          </a:prstGeom>
          <a:solidFill>
            <a:srgbClr val="EFF4FA"/>
          </a:solidFill>
          <a:ln>
            <a:solidFill>
              <a:srgbClr val="D4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49240" y="2057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B64BE"/>
                </a:solidFill>
                <a:latin typeface="Aptos"/>
              </a:defRPr>
            </a:pPr>
            <a:r>
              <a:t>AI module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32F3E"/>
                </a:solidFill>
                <a:latin typeface="Aptos"/>
              </a:defRPr>
            </a:pPr>
            <a:r>
              <a:t>Return suggestion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87768" y="2258568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5D6C7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19" y="1874519"/>
            <a:ext cx="2011680" cy="1143000"/>
          </a:xfrm>
          <a:prstGeom prst="roundRect">
            <a:avLst/>
          </a:prstGeom>
          <a:solidFill>
            <a:srgbClr val="EFF4FA"/>
          </a:solidFill>
          <a:ln>
            <a:solidFill>
              <a:srgbClr val="D4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59" y="2057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B64BE"/>
                </a:solidFill>
                <a:latin typeface="Aptos"/>
              </a:defRPr>
            </a:pPr>
            <a:r>
              <a:t>Review UI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59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32F3E"/>
                </a:solidFill>
                <a:latin typeface="Aptos"/>
              </a:defRPr>
            </a:pPr>
            <a:r>
              <a:t>Edit/confirm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19488" y="2258568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5D6C7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921240" y="1874519"/>
            <a:ext cx="2011680" cy="1143000"/>
          </a:xfrm>
          <a:prstGeom prst="roundRect">
            <a:avLst/>
          </a:prstGeom>
          <a:solidFill>
            <a:srgbClr val="EFF4FA"/>
          </a:solidFill>
          <a:ln>
            <a:solidFill>
              <a:srgbClr val="D4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12680" y="2057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B64BE"/>
                </a:solidFill>
                <a:latin typeface="Aptos"/>
              </a:defRPr>
            </a:pPr>
            <a:r>
              <a:t>MySQL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12680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32F3E"/>
                </a:solidFill>
                <a:latin typeface="Aptos"/>
              </a:defRPr>
            </a:pPr>
            <a:r>
              <a:t>Save final values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3749039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32F3E"/>
                </a:solidFill>
                <a:latin typeface="Aptos"/>
              </a:defRPr>
            </a:pPr>
            <a:r>
              <a:t>•  Suggested API: POST /api/complaints/ai-suggestion with a description field.</a:t>
            </a:r>
          </a:p>
          <a:p>
            <a:pPr>
              <a:spcAft>
                <a:spcPts val="1000"/>
              </a:spcAft>
              <a:defRPr sz="1500">
                <a:solidFill>
                  <a:srgbClr val="232F3E"/>
                </a:solidFill>
                <a:latin typeface="Aptos"/>
              </a:defRPr>
            </a:pPr>
            <a:r>
              <a:t>•  Response: category, priority, confidence, explanation.</a:t>
            </a:r>
          </a:p>
          <a:p>
            <a:pPr>
              <a:spcAft>
                <a:spcPts val="1000"/>
              </a:spcAft>
              <a:defRPr sz="1500">
                <a:solidFill>
                  <a:srgbClr val="232F3E"/>
                </a:solidFill>
                <a:latin typeface="Aptos"/>
              </a:defRPr>
            </a:pPr>
            <a:r>
              <a:t>•  Existing authentication and role checks must still protect complaint routes.</a:t>
            </a:r>
          </a:p>
          <a:p>
            <a:pPr>
              <a:spcAft>
                <a:spcPts val="1000"/>
              </a:spcAft>
              <a:defRPr sz="1500">
                <a:solidFill>
                  <a:srgbClr val="232F3E"/>
                </a:solidFill>
                <a:latin typeface="Aptos"/>
              </a:defRPr>
            </a:pPr>
            <a:r>
              <a:t>•  Persist only the user-confirmed result using the current complaint database logic.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22340"/>
                </a:solidFill>
                <a:latin typeface="Aptos"/>
              </a:defRPr>
            </a:pPr>
            <a:r>
              <a:t>Demonstration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960120"/>
            <a:ext cx="777240" cy="50292"/>
          </a:xfrm>
          <a:prstGeom prst="rect">
            <a:avLst/>
          </a:prstGeom>
          <a:solidFill>
            <a:srgbClr val="30B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D6C7E"/>
                </a:solidFill>
                <a:latin typeface="Aptos"/>
              </a:defRPr>
            </a:pPr>
            <a:r>
              <a:t>Run the supplied prototype locally and show four representative inputs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D6C7E"/>
                </a:solidFill>
                <a:latin typeface="Aptos"/>
              </a:defRPr>
            </a:pPr>
            <a:r>
              <a:t>BCSE301P  •  ASSESSMENT 10                                      HMS  •  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5303520" cy="1828800"/>
          </a:xfrm>
          <a:prstGeom prst="roundRect">
            <a:avLst/>
          </a:prstGeom>
          <a:solidFill>
            <a:srgbClr val="EFF4FA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746504"/>
            <a:ext cx="4974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B64BE"/>
                </a:solidFill>
                <a:latin typeface="Aptos"/>
              </a:defRPr>
            </a:pPr>
            <a:r>
              <a:t>Run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167128"/>
            <a:ext cx="4974336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32F3E"/>
                </a:solidFill>
                <a:latin typeface="Aptos"/>
              </a:defRPr>
            </a:pPr>
            <a:r>
              <a:t>1. Install dependencies from requirements.txt</a:t>
            </a:r>
            <a:br/>
            <a:r>
              <a:t>2. Run: python demo.py</a:t>
            </a:r>
            <a:br/>
            <a:r>
              <a:t>3. Show each input and its predicted category/priority.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00200"/>
            <a:ext cx="5303520" cy="1828800"/>
          </a:xfrm>
          <a:prstGeom prst="roundRect">
            <a:avLst/>
          </a:prstGeom>
          <a:solidFill>
            <a:srgbClr val="EFF4FA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746504"/>
            <a:ext cx="4974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79167"/>
                </a:solidFill>
                <a:latin typeface="Aptos"/>
              </a:defRPr>
            </a:pPr>
            <a:r>
              <a:t>Example test cases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2167128"/>
            <a:ext cx="4974336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32F3E"/>
                </a:solidFill>
                <a:latin typeface="Aptos"/>
              </a:defRPr>
            </a:pPr>
            <a:r>
              <a:t>• Leaking pipe → Plumbing</a:t>
            </a:r>
            <a:br/>
            <a:r>
              <a:t>• Sparking socket → High priority</a:t>
            </a:r>
            <a:br/>
            <a:r>
              <a:t>• Spoiled food → Mess/Food</a:t>
            </a:r>
            <a:br/>
            <a:r>
              <a:t>• Threat near gate → Safety / High priority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06908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2340"/>
                </a:solidFill>
                <a:latin typeface="Aptos"/>
              </a:defRPr>
            </a:pPr>
            <a:r>
              <a:t>Live demo evidence to capture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526280"/>
            <a:ext cx="104241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32F3E"/>
                </a:solidFill>
                <a:latin typeface="Aptos"/>
              </a:defRPr>
            </a:pPr>
            <a:r>
              <a:t>•  Terminal output from demo.py</a:t>
            </a:r>
          </a:p>
          <a:p>
            <a:pPr>
              <a:spcAft>
                <a:spcPts val="1000"/>
              </a:spcAft>
              <a:defRPr sz="1500">
                <a:solidFill>
                  <a:srgbClr val="232F3E"/>
                </a:solidFill>
                <a:latin typeface="Aptos"/>
              </a:defRPr>
            </a:pPr>
            <a:r>
              <a:t>•  One complaint entered in the UI/API and the suggestion shown</a:t>
            </a:r>
          </a:p>
          <a:p>
            <a:pPr>
              <a:spcAft>
                <a:spcPts val="1000"/>
              </a:spcAft>
              <a:defRPr sz="1500">
                <a:solidFill>
                  <a:srgbClr val="232F3E"/>
                </a:solidFill>
                <a:latin typeface="Aptos"/>
              </a:defRPr>
            </a:pPr>
            <a:r>
              <a:t>•  A corrected category/priority to demonstrate human control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98932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8F31"/>
                </a:solidFill>
                <a:latin typeface="Aptos"/>
              </a:defRPr>
            </a:pPr>
            <a:r>
              <a:t>This deck describes the supplied prototype. It does not claim that the AI has already been merged into the team's existing application.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22340"/>
                </a:solidFill>
                <a:latin typeface="Aptos"/>
              </a:defRPr>
            </a:pPr>
            <a:r>
              <a:t>Testing and evaluation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960120"/>
            <a:ext cx="777240" cy="50292"/>
          </a:xfrm>
          <a:prstGeom prst="rect">
            <a:avLst/>
          </a:prstGeom>
          <a:solidFill>
            <a:srgbClr val="30B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D6C7E"/>
                </a:solidFill>
                <a:latin typeface="Aptos"/>
              </a:defRPr>
            </a:pPr>
            <a:r>
              <a:t>A credible demonstration needs both functional checks and model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D6C7E"/>
                </a:solidFill>
                <a:latin typeface="Aptos"/>
              </a:defRPr>
            </a:pPr>
            <a:r>
              <a:t>BCSE301P  •  ASSESSMENT 10                                      HMS  •  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474720" cy="1920240"/>
          </a:xfrm>
          <a:prstGeom prst="roundRect">
            <a:avLst/>
          </a:prstGeom>
          <a:solidFill>
            <a:srgbClr val="EFF4FA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746504"/>
            <a:ext cx="31455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B64BE"/>
                </a:solidFill>
                <a:latin typeface="Aptos"/>
              </a:defRPr>
            </a:pPr>
            <a:r>
              <a:t>Functional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167128"/>
            <a:ext cx="3145536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32F3E"/>
                </a:solidFill>
                <a:latin typeface="Aptos"/>
              </a:defRPr>
            </a:pPr>
            <a:r>
              <a:t>Empty/short input rejected</a:t>
            </a:r>
            <a:br/>
            <a:r>
              <a:t>Valid text returns expected fields</a:t>
            </a:r>
            <a:br/>
            <a:r>
              <a:t>Urgency keywords yield High</a:t>
            </a:r>
            <a:br/>
            <a:r>
              <a:t>Endpoint returns clear errors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00200"/>
            <a:ext cx="3474720" cy="1920240"/>
          </a:xfrm>
          <a:prstGeom prst="roundRect">
            <a:avLst/>
          </a:prstGeom>
          <a:solidFill>
            <a:srgbClr val="EFF4FA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7992" y="1746504"/>
            <a:ext cx="31455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79167"/>
                </a:solidFill>
                <a:latin typeface="Aptos"/>
              </a:defRPr>
            </a:pPr>
            <a:r>
              <a:t>Quality metrics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7992" y="2167128"/>
            <a:ext cx="3145536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32F3E"/>
                </a:solidFill>
                <a:latin typeface="Aptos"/>
              </a:defRPr>
            </a:pPr>
            <a:r>
              <a:t>Evaluate on held-out, labelled complaints</a:t>
            </a:r>
            <a:br/>
            <a:r>
              <a:t>Measure precision, recall and F1 per category</a:t>
            </a:r>
            <a:br/>
            <a:r>
              <a:t>Review confusion matrix and false negatives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600200"/>
            <a:ext cx="3474720" cy="1920240"/>
          </a:xfrm>
          <a:prstGeom prst="roundRect">
            <a:avLst/>
          </a:prstGeom>
          <a:solidFill>
            <a:srgbClr val="EFF4FA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65592" y="1746504"/>
            <a:ext cx="31455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08F31"/>
                </a:solidFill>
                <a:latin typeface="Aptos"/>
              </a:defRPr>
            </a:pPr>
            <a:r>
              <a:t>Human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65592" y="2167128"/>
            <a:ext cx="3145536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32F3E"/>
                </a:solidFill>
                <a:latin typeface="Aptos"/>
              </a:defRPr>
            </a:pPr>
            <a:r>
              <a:t>Allow correction</a:t>
            </a:r>
            <a:br/>
            <a:r>
              <a:t>Record minimal audit data</a:t>
            </a:r>
            <a:br/>
            <a:r>
              <a:t>Escalate safety cases</a:t>
            </a:r>
            <a:br/>
            <a:r>
              <a:t>Never auto-close complaints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25196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2340"/>
                </a:solidFill>
                <a:latin typeface="Aptos"/>
              </a:defRPr>
            </a:pPr>
            <a:r>
              <a:t>Important: the included synthetic training data is only for a working classroom demo. Do not present its outputs as measured real-world accuracy.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22340"/>
                </a:solidFill>
                <a:latin typeface="Aptos"/>
              </a:defRPr>
            </a:pPr>
            <a:r>
              <a:t>Privacy, security and limitations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960120"/>
            <a:ext cx="777240" cy="50292"/>
          </a:xfrm>
          <a:prstGeom prst="rect">
            <a:avLst/>
          </a:prstGeom>
          <a:solidFill>
            <a:srgbClr val="30B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D6C7E"/>
                </a:solidFill>
                <a:latin typeface="Aptos"/>
              </a:defRPr>
            </a:pPr>
            <a:r>
              <a:t>Responsible integration matters more than adding an AI label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D6C7E"/>
                </a:solidFill>
                <a:latin typeface="Aptos"/>
              </a:defRPr>
            </a:pPr>
            <a:r>
              <a:t>BCSE301P  •  ASSESSMENT 10                                      HMS  • 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2F3E"/>
                </a:solidFill>
                <a:latin typeface="Aptos"/>
              </a:defRPr>
            </a:pPr>
            <a:r>
              <a:t>•  Use only the existing authenticated complaint workflow; enforce server-side authorization.</a:t>
            </a:r>
          </a:p>
          <a:p>
            <a:pPr>
              <a:spcAft>
                <a:spcPts val="1200"/>
              </a:spcAft>
              <a:defRPr sz="1700">
                <a:solidFill>
                  <a:srgbClr val="232F3E"/>
                </a:solidFill>
                <a:latin typeface="Aptos"/>
              </a:defRPr>
            </a:pPr>
            <a:r>
              <a:t>•  Do not send student names, room numbers or other identifiers to an external AI service.</a:t>
            </a:r>
          </a:p>
          <a:p>
            <a:pPr>
              <a:spcAft>
                <a:spcPts val="1200"/>
              </a:spcAft>
              <a:defRPr sz="1700">
                <a:solidFill>
                  <a:srgbClr val="232F3E"/>
                </a:solidFill>
                <a:latin typeface="Aptos"/>
              </a:defRPr>
            </a:pPr>
            <a:r>
              <a:t>•  Treat complaint text as sensitive; define access, retention and deletion rules.</a:t>
            </a:r>
          </a:p>
          <a:p>
            <a:pPr>
              <a:spcAft>
                <a:spcPts val="1200"/>
              </a:spcAft>
              <a:defRPr sz="1700">
                <a:solidFill>
                  <a:srgbClr val="232F3E"/>
                </a:solidFill>
                <a:latin typeface="Aptos"/>
              </a:defRPr>
            </a:pPr>
            <a:r>
              <a:t>•  Synthetic dataset is small and may not represent real student language or all complaint types.</a:t>
            </a:r>
          </a:p>
          <a:p>
            <a:pPr>
              <a:spcAft>
                <a:spcPts val="1200"/>
              </a:spcAft>
              <a:defRPr sz="1700">
                <a:solidFill>
                  <a:srgbClr val="232F3E"/>
                </a:solidFill>
                <a:latin typeface="Aptos"/>
              </a:defRPr>
            </a:pPr>
            <a:r>
              <a:t>•  Model predictions can be wrong or biased; confidence is not certainty.</a:t>
            </a:r>
          </a:p>
          <a:p>
            <a:pPr>
              <a:spcAft>
                <a:spcPts val="1200"/>
              </a:spcAft>
              <a:defRPr sz="1700">
                <a:solidFill>
                  <a:srgbClr val="232F3E"/>
                </a:solidFill>
                <a:latin typeface="Aptos"/>
              </a:defRPr>
            </a:pPr>
            <a:r>
              <a:t>•  High-risk safety complaints need direct human escalation, not an automated-only workflow.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79167"/>
                </a:solidFill>
                <a:latin typeface="Aptos"/>
              </a:defRPr>
            </a:pPr>
            <a:r>
              <a:t>No external service or student data is required for the local prototype.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22340"/>
                </a:solidFill>
                <a:latin typeface="Aptos"/>
              </a:defRPr>
            </a:pPr>
            <a:r>
              <a:t>Implementation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960120"/>
            <a:ext cx="777240" cy="50292"/>
          </a:xfrm>
          <a:prstGeom prst="rect">
            <a:avLst/>
          </a:prstGeom>
          <a:solidFill>
            <a:srgbClr val="30B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D6C7E"/>
                </a:solidFill>
                <a:latin typeface="Aptos"/>
              </a:defRPr>
            </a:pPr>
            <a:r>
              <a:t>A realistic path from classroom prototype to a useful HMS feature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D6C7E"/>
                </a:solidFill>
                <a:latin typeface="Aptos"/>
              </a:defRPr>
            </a:pPr>
            <a:r>
              <a:t>BCSE301P  •  ASSESSMENT 10                                      HMS  •  09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645920"/>
            <a:ext cx="438912" cy="438912"/>
          </a:xfrm>
          <a:prstGeom prst="ellipse">
            <a:avLst/>
          </a:prstGeom>
          <a:solidFill>
            <a:srgbClr val="2B6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728216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6002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2340"/>
                </a:solidFill>
                <a:latin typeface="Aptos"/>
              </a:defRPr>
            </a:pPr>
            <a:r>
              <a:t>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1600200"/>
            <a:ext cx="758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F3E"/>
                </a:solidFill>
                <a:latin typeface="Aptos"/>
              </a:defRPr>
            </a:pPr>
            <a:r>
              <a:t>Local prototype + CLI demo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697479"/>
            <a:ext cx="438912" cy="438912"/>
          </a:xfrm>
          <a:prstGeom prst="ellipse">
            <a:avLst/>
          </a:prstGeom>
          <a:solidFill>
            <a:srgbClr val="30B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2779776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651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2340"/>
                </a:solidFill>
                <a:latin typeface="Aptos"/>
              </a:defRPr>
            </a:pPr>
            <a:r>
              <a:t>Integrate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651760"/>
            <a:ext cx="758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F3E"/>
                </a:solidFill>
                <a:latin typeface="Aptos"/>
              </a:defRPr>
            </a:pPr>
            <a:r>
              <a:t>Connect the existing complaint form and Flask route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3749039"/>
            <a:ext cx="438912" cy="438912"/>
          </a:xfrm>
          <a:prstGeom prst="ellipse">
            <a:avLst/>
          </a:prstGeom>
          <a:solidFill>
            <a:srgbClr val="E08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" y="3831335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703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2340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3703320"/>
            <a:ext cx="758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F3E"/>
                </a:solidFill>
                <a:latin typeface="Aptos"/>
              </a:defRPr>
            </a:pPr>
            <a:r>
              <a:t>Test on anonymized, labelled complaint examples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4800599"/>
            <a:ext cx="438912" cy="438912"/>
          </a:xfrm>
          <a:prstGeom prst="ellipse">
            <a:avLst/>
          </a:prstGeom>
          <a:solidFill>
            <a:srgbClr val="279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" y="4882895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75487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2340"/>
                </a:solidFill>
                <a:latin typeface="Aptos"/>
              </a:defRPr>
            </a:pPr>
            <a:r>
              <a:t>Deploy safely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4754879"/>
            <a:ext cx="758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F3E"/>
                </a:solidFill>
                <a:latin typeface="Aptos"/>
              </a:defRPr>
            </a:pPr>
            <a:r>
              <a:t>Human review, monitoring, access controls and rollback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08F31"/>
                </a:solidFill>
                <a:latin typeface="Aptos"/>
              </a:defRPr>
            </a:pPr>
            <a:r>
              <a:t>Do not claim production readiness until real-data evaluation and integration tests are complete.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3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0B5BE"/>
                </a:solidFill>
                <a:latin typeface="Aptos"/>
              </a:defRPr>
            </a:pPr>
            <a:r>
              <a:t>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3327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ptos"/>
              </a:defRPr>
            </a:pPr>
            <a:r>
              <a:t>AI should assist the warden,</a:t>
            </a:r>
            <a:br/>
            <a:r>
              <a:t>not replace the warden.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4612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D6E1EF"/>
                </a:solidFill>
                <a:latin typeface="Aptos"/>
              </a:defRPr>
            </a:pPr>
            <a:r>
              <a:t>The proposed HMS Complaint Assistant demonstrates a practical ML integration: text classification, priority suggestions, explainable output, and human confirmation.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978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0B5BE"/>
                </a:solidFill>
                <a:latin typeface="Aptos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